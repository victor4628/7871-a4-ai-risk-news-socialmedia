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1" r:id="rId2"/>
    <p:sldId id="295" r:id="rId3"/>
    <p:sldId id="280" r:id="rId4"/>
    <p:sldId id="303" r:id="rId5"/>
    <p:sldId id="279" r:id="rId6"/>
    <p:sldId id="282" r:id="rId7"/>
    <p:sldId id="286" r:id="rId8"/>
    <p:sldId id="308" r:id="rId9"/>
    <p:sldId id="309" r:id="rId10"/>
    <p:sldId id="300" r:id="rId11"/>
    <p:sldId id="306" r:id="rId12"/>
    <p:sldId id="307" r:id="rId13"/>
    <p:sldId id="302" r:id="rId14"/>
  </p:sldIdLst>
  <p:sldSz cx="9144000" cy="6858000" type="screen4x3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C4ADD-6F3A-4D4C-AC10-7AA100FE1F41}" v="2" dt="2022-09-23T01:46:04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81919" autoAdjust="0"/>
  </p:normalViewPr>
  <p:slideViewPr>
    <p:cSldViewPr snapToGrid="0" snapToObjects="1">
      <p:cViewPr varScale="1">
        <p:scale>
          <a:sx n="90" d="100"/>
          <a:sy n="90" d="100"/>
        </p:scale>
        <p:origin x="129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915B0-6CAD-41FA-8C10-854D53F570FB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https://github.com/zfz/twitter_corpus/blob/master/corpus.csv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C7B6-327C-4863-A93D-CE5716DFF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266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88A4D-42BF-49FF-B096-F062EAE3AAB5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575"/>
            <a:ext cx="548640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https://github.com/zfz/twitter_corpus/blob/master/corpus.csv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7E2AE-6FA3-4454-8A70-C65652341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51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Subset of data: we</a:t>
            </a:r>
            <a:r>
              <a:rPr lang="en-US" baseline="0" dirty="0"/>
              <a:t> only used 2000 rows over 50,000 rows available which are essentially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7E2AE-6FA3-4454-8A70-C65652341D8D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https://github.com/zfz/twitter_corpus/blob/master/corpus.csv</a:t>
            </a:r>
          </a:p>
        </p:txBody>
      </p:sp>
    </p:spTree>
    <p:extLst>
      <p:ext uri="{BB962C8B-B14F-4D97-AF65-F5344CB8AC3E}">
        <p14:creationId xmlns:p14="http://schemas.microsoft.com/office/powerpoint/2010/main" val="902788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is a python library: Very good. Do I insert a code snippet here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7E2AE-6FA3-4454-8A70-C65652341D8D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https://github.com/zfz/twitter_corpus/blob/master/corpus.csv</a:t>
            </a:r>
          </a:p>
        </p:txBody>
      </p:sp>
    </p:spTree>
    <p:extLst>
      <p:ext uri="{BB962C8B-B14F-4D97-AF65-F5344CB8AC3E}">
        <p14:creationId xmlns:p14="http://schemas.microsoft.com/office/powerpoint/2010/main" val="410803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has a list of scored positive and negative words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classification it extracts the text body and weighs it based on score corpus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7E2AE-6FA3-4454-8A70-C65652341D8D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https://github.com/zfz/twitter_corpus/blob/master/corpus.csv</a:t>
            </a:r>
          </a:p>
        </p:txBody>
      </p:sp>
    </p:spTree>
    <p:extLst>
      <p:ext uri="{BB962C8B-B14F-4D97-AF65-F5344CB8AC3E}">
        <p14:creationId xmlns:p14="http://schemas.microsoft.com/office/powerpoint/2010/main" val="141479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statistical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https://github.com/zfz/twitter_corpus/blob/master/corpus.csv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B7E2AE-6FA3-4454-8A70-C65652341D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21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positives (TP):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These are cases in which we predicted yes (they have the disease), and they do have the disease.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negatives (TN):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predicted no, and they don't have the disease.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positives (FP):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predicted yes, but they don't actually have the disease. (Also known as a "Type I error.")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negatives (FN):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predicted no, but they actually do have the disease. (Also known as a "Type II error.")</a:t>
            </a:r>
          </a:p>
          <a:p>
            <a:endParaRPr lang="en-US" dirty="0"/>
          </a:p>
          <a:p>
            <a:r>
              <a:rPr lang="en-US" dirty="0"/>
              <a:t>Accuracy: (TP+ TN)/TN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Precision: TN/(FP+TN)</a:t>
            </a:r>
          </a:p>
          <a:p>
            <a:r>
              <a:rPr lang="en-US" dirty="0"/>
              <a:t>Recall: TP/(FN+TP)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7E2AE-6FA3-4454-8A70-C65652341D8D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https://github.com/zfz/twitter_corpus/blob/master/corpus.csv</a:t>
            </a:r>
          </a:p>
        </p:txBody>
      </p:sp>
    </p:spTree>
    <p:extLst>
      <p:ext uri="{BB962C8B-B14F-4D97-AF65-F5344CB8AC3E}">
        <p14:creationId xmlns:p14="http://schemas.microsoft.com/office/powerpoint/2010/main" val="385095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886200"/>
            <a:ext cx="91440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494692"/>
            <a:ext cx="9144000" cy="5059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139132"/>
            <a:ext cx="7772400" cy="326368"/>
          </a:xfrm>
        </p:spPr>
        <p:txBody>
          <a:bodyPr/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i="1" dirty="0">
                <a:solidFill>
                  <a:schemeClr val="bg1"/>
                </a:solidFill>
                <a:latin typeface="Georgia"/>
                <a:cs typeface="Georgia"/>
              </a:rPr>
              <a:t>Attributions and Credits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366"/>
            <a:ext cx="9144000" cy="553263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635231-D4F9-4F61-B0F5-2FC92E06AA33}"/>
              </a:ext>
            </a:extLst>
          </p:cNvPr>
          <p:cNvSpPr/>
          <p:nvPr userDrawn="1"/>
        </p:nvSpPr>
        <p:spPr>
          <a:xfrm>
            <a:off x="6774873" y="0"/>
            <a:ext cx="2369127" cy="51954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Twitter Applications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57200" y="367862"/>
            <a:ext cx="8229600" cy="5758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457200" y="378372"/>
            <a:ext cx="8229600" cy="57477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209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210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0" r:id="rId4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5454"/>
            <a:ext cx="9143999" cy="5472545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Differences in the Sentiment Analysis Tools using Twitter Data concerning Autism Awareness</a:t>
            </a:r>
          </a:p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29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485108"/>
            <a:ext cx="8585200" cy="5248202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 Tools and Models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Discussion/Conclusion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8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Goal: Analyze twitter data concerning autism awareness and find out which is the better tool for sentiment analysis</a:t>
            </a:r>
          </a:p>
          <a:p>
            <a:r>
              <a:rPr lang="en-US" sz="2800" dirty="0"/>
              <a:t>Sentiment analysis is the identification of opinions from text to determine how the writer feels about a topic</a:t>
            </a:r>
          </a:p>
          <a:p>
            <a:r>
              <a:rPr lang="en-US" sz="2800" dirty="0"/>
              <a:t>Evaluate two Python based sentiment analysis tools:</a:t>
            </a:r>
          </a:p>
          <a:p>
            <a:pPr lvl="1"/>
            <a:r>
              <a:rPr lang="en-US" sz="2400" dirty="0"/>
              <a:t>VADER</a:t>
            </a:r>
          </a:p>
          <a:p>
            <a:pPr lvl="1"/>
            <a:r>
              <a:rPr lang="en-US" sz="2400" dirty="0"/>
              <a:t>Scikit Learn</a:t>
            </a:r>
          </a:p>
          <a:p>
            <a:r>
              <a:rPr lang="en-US" sz="2800" dirty="0"/>
              <a:t>Comparing performance of the tools</a:t>
            </a:r>
          </a:p>
          <a:p>
            <a:pPr lvl="1"/>
            <a:r>
              <a:rPr lang="en-US" sz="2400" dirty="0"/>
              <a:t>Comparison of the results each output and human judgement</a:t>
            </a:r>
          </a:p>
        </p:txBody>
      </p:sp>
    </p:spTree>
    <p:extLst>
      <p:ext uri="{BB962C8B-B14F-4D97-AF65-F5344CB8AC3E}">
        <p14:creationId xmlns:p14="http://schemas.microsoft.com/office/powerpoint/2010/main" val="115825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dirty="0"/>
              <a:t>Analysis of text data can extract information about business, medicine, and health related topics(</a:t>
            </a:r>
            <a:r>
              <a:rPr lang="en-US" sz="2400" dirty="0" err="1"/>
              <a:t>e.g</a:t>
            </a:r>
            <a:r>
              <a:rPr lang="en-US" sz="2400" dirty="0"/>
              <a:t> autism) </a:t>
            </a:r>
          </a:p>
          <a:p>
            <a:pPr lvl="2"/>
            <a:r>
              <a:rPr lang="en-US" sz="1200" dirty="0"/>
              <a:t>(</a:t>
            </a:r>
            <a:r>
              <a:rPr lang="en-US" sz="1400" dirty="0"/>
              <a:t>Knudson et al., 2016, </a:t>
            </a:r>
            <a:r>
              <a:rPr lang="en-US" sz="1400" dirty="0" err="1"/>
              <a:t>Ghiassi</a:t>
            </a:r>
            <a:r>
              <a:rPr lang="en-US" sz="1400" dirty="0"/>
              <a:t> at al., 2015, Rodrigues et al., 2013)</a:t>
            </a:r>
          </a:p>
          <a:p>
            <a:r>
              <a:rPr lang="en-US" sz="2400" dirty="0"/>
              <a:t>Twitter is a popular data source for text analytics</a:t>
            </a:r>
          </a:p>
          <a:p>
            <a:pPr lvl="2"/>
            <a:r>
              <a:rPr lang="en-US" sz="1400" dirty="0"/>
              <a:t>(</a:t>
            </a:r>
            <a:r>
              <a:rPr lang="en-US" sz="1400" dirty="0" err="1"/>
              <a:t>Ghiassi</a:t>
            </a:r>
            <a:r>
              <a:rPr lang="en-US" sz="1400" dirty="0"/>
              <a:t> et al., 2015, </a:t>
            </a:r>
            <a:r>
              <a:rPr lang="en-US" sz="1400" dirty="0" err="1"/>
              <a:t>Abbasi</a:t>
            </a:r>
            <a:r>
              <a:rPr lang="en-US" sz="1400" dirty="0"/>
              <a:t> et al., 2014, Marquez et al., 2013)</a:t>
            </a:r>
          </a:p>
          <a:p>
            <a:r>
              <a:rPr lang="en-US" sz="2400" dirty="0"/>
              <a:t>Sentiment polarity refers to the tweet being positive or negative</a:t>
            </a:r>
          </a:p>
          <a:p>
            <a:pPr lvl="2"/>
            <a:r>
              <a:rPr lang="en-US" sz="1400" dirty="0"/>
              <a:t>(Knudson et al., 2016, Marquez et al., 2013)</a:t>
            </a:r>
          </a:p>
          <a:p>
            <a:r>
              <a:rPr lang="en-US" sz="2400" dirty="0"/>
              <a:t>To validate the results, the accuracy, precision, and recall are calculated </a:t>
            </a:r>
          </a:p>
          <a:p>
            <a:pPr lvl="2"/>
            <a:r>
              <a:rPr lang="en-US" sz="1400" dirty="0"/>
              <a:t>(</a:t>
            </a:r>
            <a:r>
              <a:rPr lang="en-US" sz="1400" dirty="0" err="1"/>
              <a:t>Ghiassi</a:t>
            </a:r>
            <a:r>
              <a:rPr lang="en-US" sz="1400" dirty="0"/>
              <a:t> et al., 2015, </a:t>
            </a:r>
            <a:r>
              <a:rPr lang="en-US" sz="1400" dirty="0" err="1"/>
              <a:t>Abbasi</a:t>
            </a:r>
            <a:r>
              <a:rPr lang="en-US" sz="1400" dirty="0"/>
              <a:t> et al., 2014, Rodrigues et al., Marquez at al, 2013, Knudson et al., 2016, Georgiou et al., 2015)</a:t>
            </a:r>
          </a:p>
          <a:p>
            <a:pPr marL="0" indent="0">
              <a:buNone/>
            </a:pPr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99528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8470"/>
            <a:ext cx="9144000" cy="551953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data set in CSV format: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Expressing opinions about Autism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from the College of Public Health, GSU(Dr. Yin, Thank you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contains 25 columns and 2000 rows: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Retweets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in different language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have: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Emoticons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0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324708"/>
            <a:ext cx="9144000" cy="55332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texts are used only for this study: Column header ‘tweets’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containing non-English tweets removed</a:t>
            </a:r>
          </a:p>
          <a:p>
            <a:r>
              <a:rPr lang="en-US" sz="2800" dirty="0"/>
              <a:t>All $URLS, emoticons, #hashtags and @mentions remained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/>
              <a:t>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exported and saved in a separate CSV file using python’s pandas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423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 Tools &amp; Models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338470"/>
            <a:ext cx="9144000" cy="5519530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for sentiment analysis: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VADER: </a:t>
            </a:r>
          </a:p>
          <a:p>
            <a:pPr lvl="2"/>
            <a:r>
              <a:rPr lang="en-US" dirty="0"/>
              <a:t>Python based sentiment analysis tool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scored sentiment corpus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 Learn: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based machine learning library</a:t>
            </a:r>
          </a:p>
          <a:p>
            <a:pPr lvl="2"/>
            <a:r>
              <a:rPr lang="en-US" dirty="0"/>
              <a:t>Provides platform for creating model for sentiment analysis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corpus must be provided by user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0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Analysis: Vader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Labeled data corpus for Sentiment Analysis</a:t>
            </a:r>
          </a:p>
          <a:p>
            <a:r>
              <a:rPr lang="en-US" i="1" dirty="0" err="1"/>
              <a:t>SentimentIntensityAnalyzer</a:t>
            </a:r>
            <a:r>
              <a:rPr lang="en-US" dirty="0"/>
              <a:t>: library for classifying into groups of sentiments</a:t>
            </a:r>
          </a:p>
          <a:p>
            <a:r>
              <a:rPr lang="en-US" dirty="0"/>
              <a:t>Results exported in text files</a:t>
            </a:r>
          </a:p>
          <a:p>
            <a:r>
              <a:rPr lang="en-US" dirty="0"/>
              <a:t>Outputs:	</a:t>
            </a:r>
          </a:p>
          <a:p>
            <a:pPr lvl="1"/>
            <a:r>
              <a:rPr lang="en-US" dirty="0"/>
              <a:t>Probability of positive, neutral and negative</a:t>
            </a:r>
          </a:p>
          <a:p>
            <a:pPr lvl="1"/>
            <a:r>
              <a:rPr lang="en-US" dirty="0"/>
              <a:t>Compound values in a range of -1 to 1, where -1 represents negative for each tweet</a:t>
            </a:r>
          </a:p>
          <a:p>
            <a:r>
              <a:rPr lang="en-US" dirty="0"/>
              <a:t>The compound value is comparable to a single measure of polarity</a:t>
            </a:r>
          </a:p>
        </p:txBody>
      </p:sp>
    </p:spTree>
    <p:extLst>
      <p:ext uri="{BB962C8B-B14F-4D97-AF65-F5344CB8AC3E}">
        <p14:creationId xmlns:p14="http://schemas.microsoft.com/office/powerpoint/2010/main" val="373161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Analysis: Scikit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366"/>
            <a:ext cx="9144000" cy="5532634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Used to built a sentiment analysis tool: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Sanders labeled data corpus used for model building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Vectors created used TFIDF Vectorizer: min DF = 0.02, max DF = 0.8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30% for training set, 70% for test set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Support vector machine algorithm and the classifier library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Classifies tweets into three groups: Positive, negative, neutral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Values in a range of -1 to 1, where negative(-1), neutral(0), positive(+1)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106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967894"/>
              </p:ext>
            </p:extLst>
          </p:nvPr>
        </p:nvGraphicFramePr>
        <p:xfrm>
          <a:off x="0" y="4120943"/>
          <a:ext cx="9144000" cy="251795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43910410"/>
                    </a:ext>
                  </a:extLst>
                </a:gridCol>
              </a:tblGrid>
              <a:tr h="398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 Learn: Sentiment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65907"/>
                  </a:ext>
                </a:extLst>
              </a:tr>
              <a:tr h="2119903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7846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40536"/>
              </p:ext>
            </p:extLst>
          </p:nvPr>
        </p:nvGraphicFramePr>
        <p:xfrm>
          <a:off x="24547" y="1485107"/>
          <a:ext cx="9144000" cy="251795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val="2043910410"/>
                    </a:ext>
                  </a:extLst>
                </a:gridCol>
              </a:tblGrid>
              <a:tr h="3980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Vader: Sentiment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65907"/>
                  </a:ext>
                </a:extLst>
              </a:tr>
              <a:tr h="2119903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7846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" y="1927156"/>
            <a:ext cx="9106201" cy="19900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5055"/>
            <a:ext cx="9130748" cy="207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Performance of model examined using the measures:</a:t>
            </a:r>
          </a:p>
          <a:p>
            <a:pPr lvl="1"/>
            <a:r>
              <a:rPr lang="en-US" dirty="0"/>
              <a:t>Accuracy: (True Positive + True Negative)/N</a:t>
            </a:r>
          </a:p>
          <a:p>
            <a:pPr lvl="2"/>
            <a:r>
              <a:rPr lang="en-US" sz="2800" dirty="0"/>
              <a:t>Number of instances classified correctly</a:t>
            </a:r>
          </a:p>
          <a:p>
            <a:pPr lvl="1"/>
            <a:r>
              <a:rPr lang="en-US" sz="2600" dirty="0"/>
              <a:t>Recall: True Positive/(False Negative + True Positive)</a:t>
            </a:r>
          </a:p>
          <a:p>
            <a:pPr lvl="2"/>
            <a:r>
              <a:rPr lang="en-US" sz="2800" dirty="0"/>
              <a:t>True positive rate: How </a:t>
            </a:r>
            <a:r>
              <a:rPr lang="en-US" sz="2800"/>
              <a:t>many positive instances </a:t>
            </a:r>
            <a:r>
              <a:rPr lang="en-US" sz="2800" dirty="0"/>
              <a:t>are predicted correctly</a:t>
            </a:r>
            <a:endParaRPr lang="en-US" sz="3200" dirty="0"/>
          </a:p>
          <a:p>
            <a:pPr lvl="1"/>
            <a:r>
              <a:rPr lang="en-US" dirty="0"/>
              <a:t>Precision: True Negative / (False Positive + True Negative)</a:t>
            </a:r>
          </a:p>
          <a:p>
            <a:pPr lvl="2"/>
            <a:r>
              <a:rPr lang="en-US" sz="2800" dirty="0"/>
              <a:t>True negative rate: How negative instances are predicted correctly</a:t>
            </a:r>
            <a:endParaRPr lang="en-US" sz="3200" dirty="0"/>
          </a:p>
          <a:p>
            <a:pPr lvl="1"/>
            <a:r>
              <a:rPr lang="en-US" dirty="0"/>
              <a:t>F1-score: 2*(Recall * Precision)/(Recall + Precision)</a:t>
            </a:r>
          </a:p>
          <a:p>
            <a:pPr lvl="2"/>
            <a:r>
              <a:rPr lang="en-US" sz="2800" dirty="0"/>
              <a:t>Weighted Average of precision and recall</a:t>
            </a:r>
          </a:p>
          <a:p>
            <a:pPr marL="457200" lvl="1" indent="0">
              <a:buNone/>
            </a:pPr>
            <a:endParaRPr lang="en-US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0558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870453"/>
              </p:ext>
            </p:extLst>
          </p:nvPr>
        </p:nvGraphicFramePr>
        <p:xfrm>
          <a:off x="285749" y="2267712"/>
          <a:ext cx="8715374" cy="296104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09846">
                  <a:extLst>
                    <a:ext uri="{9D8B030D-6E8A-4147-A177-3AD203B41FA5}">
                      <a16:colId xmlns:a16="http://schemas.microsoft.com/office/drawing/2014/main" val="1758875168"/>
                    </a:ext>
                  </a:extLst>
                </a:gridCol>
                <a:gridCol w="1776382">
                  <a:extLst>
                    <a:ext uri="{9D8B030D-6E8A-4147-A177-3AD203B41FA5}">
                      <a16:colId xmlns:a16="http://schemas.microsoft.com/office/drawing/2014/main" val="2893638891"/>
                    </a:ext>
                  </a:extLst>
                </a:gridCol>
                <a:gridCol w="1776382">
                  <a:extLst>
                    <a:ext uri="{9D8B030D-6E8A-4147-A177-3AD203B41FA5}">
                      <a16:colId xmlns:a16="http://schemas.microsoft.com/office/drawing/2014/main" val="3353195026"/>
                    </a:ext>
                  </a:extLst>
                </a:gridCol>
                <a:gridCol w="1776382">
                  <a:extLst>
                    <a:ext uri="{9D8B030D-6E8A-4147-A177-3AD203B41FA5}">
                      <a16:colId xmlns:a16="http://schemas.microsoft.com/office/drawing/2014/main" val="4141429361"/>
                    </a:ext>
                  </a:extLst>
                </a:gridCol>
                <a:gridCol w="1776382">
                  <a:extLst>
                    <a:ext uri="{9D8B030D-6E8A-4147-A177-3AD203B41FA5}">
                      <a16:colId xmlns:a16="http://schemas.microsoft.com/office/drawing/2014/main" val="4027022763"/>
                    </a:ext>
                  </a:extLst>
                </a:gridCol>
              </a:tblGrid>
              <a:tr h="32907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643571"/>
                  </a:ext>
                </a:extLst>
              </a:tr>
              <a:tr h="12519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728090"/>
                  </a:ext>
                </a:extLst>
              </a:tr>
              <a:tr h="12519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 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1461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169408" y="5207948"/>
            <a:ext cx="419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 comparison with Human judges</a:t>
            </a:r>
          </a:p>
        </p:txBody>
      </p:sp>
    </p:spTree>
    <p:extLst>
      <p:ext uri="{BB962C8B-B14F-4D97-AF65-F5344CB8AC3E}">
        <p14:creationId xmlns:p14="http://schemas.microsoft.com/office/powerpoint/2010/main" val="828041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when people spoke of autism it was in an information sharing or supportive sentiment</a:t>
            </a:r>
          </a:p>
          <a:p>
            <a:pPr lvl="1"/>
            <a:r>
              <a:rPr lang="en-US" dirty="0"/>
              <a:t>Overall there were few negative tweets and most were found as neutral and/or positive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has a higher accuracy: 67%</a:t>
            </a:r>
          </a:p>
          <a:p>
            <a:r>
              <a:rPr lang="en-US" dirty="0"/>
              <a:t>Vader has predicted more values correctly than </a:t>
            </a:r>
            <a:r>
              <a:rPr lang="en-US" dirty="0" err="1"/>
              <a:t>scikit</a:t>
            </a:r>
            <a:r>
              <a:rPr lang="en-US" dirty="0"/>
              <a:t> learn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for this study, Vader is the better tool</a:t>
            </a:r>
          </a:p>
          <a:p>
            <a:r>
              <a:rPr lang="en-US" dirty="0"/>
              <a:t>Next Steps: </a:t>
            </a:r>
          </a:p>
          <a:p>
            <a:pPr lvl="1"/>
            <a:r>
              <a:rPr lang="en-US" dirty="0"/>
              <a:t>Apply Vader sentiment analysis to remaining autism set of twitter data (100,000+ tweets)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58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rgbClr val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F5DE1DA-F369-448F-9A35-98DEB870332E}" vid="{1E4B2513-4847-40A8-918A-384AE2BE4A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  <wetp:taskpane dockstate="right" visibility="0" width="350" row="6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D9F0650C-2ECA-4CB2-A248-D60C79A1C3BB}">
  <we:reference id="wa104334910" version="1.0.0.0" store="en-US" storeType="OMEX"/>
  <we:alternateReferences>
    <we:reference id="WA104334910" version="1.0.0.0" store="WA10433491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D611E3A-B56A-4B23-A2B7-BF9B7E4AF3CD}">
  <we:reference id="wa104379989" version="1.0.0.0" store="en-US" storeType="OMEX"/>
  <we:alternateReferences>
    <we:reference id="WA104379989" version="1.0.0.0" store="WA10437998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1DF9CD6-B776-497F-95B9-79F7AC2DD093}">
  <we:reference id="wa104380506" version="1.3.0.0" store="en-US" storeType="OMEX"/>
  <we:alternateReferences>
    <we:reference id="WA104380506" version="1.3.0.0" store="WA10438050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4723</TotalTime>
  <Words>1024</Words>
  <Application>Microsoft Office PowerPoint</Application>
  <PresentationFormat>On-screen Show (4:3)</PresentationFormat>
  <Paragraphs>149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Times New Roman</vt:lpstr>
      <vt:lpstr>Office Theme</vt:lpstr>
      <vt:lpstr>PowerPoint Presentation</vt:lpstr>
      <vt:lpstr>Outline</vt:lpstr>
      <vt:lpstr>Overview</vt:lpstr>
      <vt:lpstr>Background</vt:lpstr>
      <vt:lpstr>Data Set</vt:lpstr>
      <vt:lpstr>Data Preprocessing</vt:lpstr>
      <vt:lpstr>Sentiment Analysis: Tools &amp; Models</vt:lpstr>
      <vt:lpstr>Sentiment Analysis: Vader</vt:lpstr>
      <vt:lpstr>Sentiment Analysis: Scikit Learn</vt:lpstr>
      <vt:lpstr>Results</vt:lpstr>
      <vt:lpstr>Results</vt:lpstr>
      <vt:lpstr>Results</vt:lpstr>
      <vt:lpstr>Conclusion</vt:lpstr>
    </vt:vector>
  </TitlesOfParts>
  <Company>Georgia Southern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Rodriguez</dc:creator>
  <cp:lastModifiedBy>Dan Rodriguez</cp:lastModifiedBy>
  <cp:revision>122</cp:revision>
  <cp:lastPrinted>2015-10-26T20:12:17Z</cp:lastPrinted>
  <dcterms:created xsi:type="dcterms:W3CDTF">2015-10-26T15:02:27Z</dcterms:created>
  <dcterms:modified xsi:type="dcterms:W3CDTF">2022-09-23T01:46:39Z</dcterms:modified>
  <cp:version>1.0</cp:version>
</cp:coreProperties>
</file>